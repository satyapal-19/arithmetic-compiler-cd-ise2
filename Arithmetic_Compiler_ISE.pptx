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822960"/>
            <a:ext cx="10362895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822960"/>
            <a:ext cx="103628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551140"/>
            <a:ext cx="99971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 dirty="0">
                <a:solidFill>
                  <a:srgbClr val="0F172A"/>
                </a:solidFill>
                <a:latin typeface="Segoe UI"/>
              </a:rPr>
              <a:t>ARITHMETIC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14300"/>
            <a:ext cx="99971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1D4ED8"/>
                </a:solidFill>
                <a:latin typeface="Segoe UI"/>
              </a:rPr>
              <a:t>Compiler Design</a:t>
            </a:r>
            <a:r>
              <a:rPr lang="en-US" sz="1600" b="0" i="0" dirty="0">
                <a:solidFill>
                  <a:srgbClr val="1D4ED8"/>
                </a:solidFill>
                <a:latin typeface="Segoe UI"/>
              </a:rPr>
              <a:t>  ISE - 1</a:t>
            </a:r>
            <a:endParaRPr sz="1600" b="0" i="0" dirty="0">
              <a:solidFill>
                <a:srgbClr val="1D4ED8"/>
              </a:solidFill>
              <a:latin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0" y="2514600"/>
            <a:ext cx="57908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45920" y="2743200"/>
            <a:ext cx="21945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Course &amp; 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8346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334155"/>
                </a:solidFill>
                <a:latin typeface="Segoe UI"/>
              </a:rPr>
              <a:t>Compiler Design Lab (ISE Project)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3337560"/>
            <a:ext cx="21945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37360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429000"/>
            <a:ext cx="6583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334155"/>
                </a:solidFill>
                <a:latin typeface="Segoe UI"/>
              </a:rPr>
              <a:t>C++17  |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3931920"/>
            <a:ext cx="21945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37360" y="4023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Core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402336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334155"/>
                </a:solidFill>
                <a:latin typeface="Segoe UI"/>
              </a:rPr>
              <a:t>Lexer  →  Parser  →  Semantic  →  TAC  →  Optimizer  →  x86 Assembly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0684" y="4434620"/>
            <a:ext cx="4130326" cy="1255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1" i="1" dirty="0">
                <a:solidFill>
                  <a:srgbClr val="D97706"/>
                </a:solidFill>
                <a:latin typeface="Segoe UI"/>
              </a:rPr>
              <a:t>Presented by:</a:t>
            </a:r>
            <a:endParaRPr lang="en-US" sz="1300" b="1" i="1" dirty="0">
              <a:solidFill>
                <a:srgbClr val="D97706"/>
              </a:solidFill>
              <a:latin typeface="Segoe UI"/>
            </a:endParaRP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300" b="1" i="1" dirty="0">
                <a:solidFill>
                  <a:srgbClr val="D97706"/>
                </a:solidFill>
                <a:latin typeface="Segoe UI"/>
              </a:rPr>
              <a:t>Satyapal Gaikwad 245109108</a:t>
            </a: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300" b="1" i="1" dirty="0">
                <a:solidFill>
                  <a:srgbClr val="D97706"/>
                </a:solidFill>
                <a:latin typeface="Segoe UI"/>
              </a:rPr>
              <a:t>Darshan Patil 245109109</a:t>
            </a: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300" b="1" i="1" dirty="0">
                <a:solidFill>
                  <a:srgbClr val="D97706"/>
                </a:solidFill>
                <a:latin typeface="Segoe UI"/>
              </a:rPr>
              <a:t>Yashodhan Jadhav 245109110</a:t>
            </a:r>
            <a:endParaRPr lang="en-US" sz="1300" b="1" i="1" dirty="0">
              <a:solidFill>
                <a:srgbClr val="D97706"/>
              </a:solidFill>
              <a:latin typeface="Segoe U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FE1502-65FE-C0D9-6CBF-7F5D48A3C281}"/>
              </a:ext>
            </a:extLst>
          </p:cNvPr>
          <p:cNvSpPr txBox="1"/>
          <p:nvPr/>
        </p:nvSpPr>
        <p:spPr>
          <a:xfrm>
            <a:off x="1410400" y="968817"/>
            <a:ext cx="9866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WALCHAND COLLEGE OF ENGINEERING, SANGLI</a:t>
            </a:r>
            <a:endParaRPr lang="en-IN" sz="3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73152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0F172A"/>
                </a:solidFill>
                <a:latin typeface="Segoe UI"/>
              </a:rPr>
              <a:t>Overview</a:t>
            </a:r>
            <a:endParaRPr sz="2600" b="1" i="0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199" y="1188720"/>
            <a:ext cx="11313871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73152" cy="5120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1D4ED8"/>
                </a:solidFill>
                <a:latin typeface="Segoe UI"/>
              </a:rPr>
              <a:t>Compiler Architecture &amp; 6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16636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 dirty="0">
                <a:solidFill>
                  <a:srgbClr val="334155"/>
                </a:solidFill>
                <a:latin typeface="Segoe UI"/>
              </a:rPr>
              <a:t>•  1. Introduction to Compilers &amp; Logical Structure</a:t>
            </a:r>
          </a:p>
          <a:p>
            <a:pPr>
              <a:spcBef>
                <a:spcPts val="400"/>
              </a:spcBef>
            </a:pPr>
            <a:r>
              <a:rPr sz="1350" dirty="0">
                <a:solidFill>
                  <a:srgbClr val="334155"/>
                </a:solidFill>
                <a:latin typeface="Segoe UI"/>
              </a:rPr>
              <a:t>•  2. Arithmetic Compiler Project Overview &amp; Scope</a:t>
            </a:r>
            <a:endParaRPr lang="en-US" sz="1350" dirty="0">
              <a:solidFill>
                <a:srgbClr val="334155"/>
              </a:solidFill>
              <a:latin typeface="Segoe UI"/>
            </a:endParaRPr>
          </a:p>
          <a:p>
            <a:pPr>
              <a:spcBef>
                <a:spcPts val="400"/>
              </a:spcBef>
            </a:pPr>
            <a:endParaRPr lang="en-IN" sz="1350" dirty="0">
              <a:solidFill>
                <a:srgbClr val="334155"/>
              </a:solidFill>
              <a:latin typeface="Segoe UI"/>
            </a:endParaRPr>
          </a:p>
          <a:p>
            <a:pPr>
              <a:spcBef>
                <a:spcPts val="400"/>
              </a:spcBef>
            </a:pPr>
            <a:endParaRPr sz="1350" dirty="0">
              <a:solidFill>
                <a:srgbClr val="334155"/>
              </a:solidFill>
              <a:latin typeface="Segoe UI"/>
            </a:endParaRPr>
          </a:p>
          <a:p>
            <a:pPr>
              <a:spcBef>
                <a:spcPts val="400"/>
              </a:spcBef>
            </a:pPr>
            <a:r>
              <a:rPr sz="1350" dirty="0">
                <a:solidFill>
                  <a:srgbClr val="334155"/>
                </a:solidFill>
                <a:latin typeface="Segoe UI"/>
              </a:rPr>
              <a:t>•  3. Phase 1 — Lexical Analysis (Scanner / Tokenizer)</a:t>
            </a:r>
          </a:p>
          <a:p>
            <a:pPr>
              <a:spcBef>
                <a:spcPts val="400"/>
              </a:spcBef>
            </a:pPr>
            <a:r>
              <a:rPr sz="1350" dirty="0">
                <a:solidFill>
                  <a:srgbClr val="334155"/>
                </a:solidFill>
                <a:latin typeface="Segoe UI"/>
              </a:rPr>
              <a:t>•  4. Phase 2 — Syntax Analysis (Recursive Descent + AST)</a:t>
            </a:r>
          </a:p>
          <a:p>
            <a:pPr>
              <a:spcBef>
                <a:spcPts val="400"/>
              </a:spcBef>
            </a:pPr>
            <a:r>
              <a:rPr sz="1350" dirty="0">
                <a:solidFill>
                  <a:srgbClr val="334155"/>
                </a:solidFill>
                <a:latin typeface="Segoe UI"/>
              </a:rPr>
              <a:t>•  5. Phase 3 — Semantic Analysis &amp; Type System</a:t>
            </a:r>
          </a:p>
          <a:p>
            <a:pPr>
              <a:spcBef>
                <a:spcPts val="400"/>
              </a:spcBef>
            </a:pPr>
            <a:r>
              <a:rPr sz="1350" dirty="0">
                <a:solidFill>
                  <a:srgbClr val="334155"/>
                </a:solidFill>
                <a:latin typeface="Segoe UI"/>
              </a:rPr>
              <a:t>•  6. Phase 4 — Intermediate Code (Three-Address Code)</a:t>
            </a:r>
          </a:p>
          <a:p>
            <a:pPr>
              <a:spcBef>
                <a:spcPts val="400"/>
              </a:spcBef>
            </a:pPr>
            <a:r>
              <a:rPr sz="1350" dirty="0">
                <a:solidFill>
                  <a:srgbClr val="334155"/>
                </a:solidFill>
                <a:latin typeface="Segoe UI"/>
              </a:rPr>
              <a:t>•  7. Phase 5 — Code Optimization Techniques</a:t>
            </a:r>
          </a:p>
          <a:p>
            <a:pPr>
              <a:spcBef>
                <a:spcPts val="400"/>
              </a:spcBef>
            </a:pPr>
            <a:r>
              <a:rPr sz="1350" dirty="0">
                <a:solidFill>
                  <a:srgbClr val="334155"/>
                </a:solidFill>
                <a:latin typeface="Segoe UI"/>
              </a:rPr>
              <a:t>•  8. Phase 6 — Target Code Generation (x86 Assembly)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697919" y="1188720"/>
            <a:ext cx="73152" cy="5120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73152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Segoe UI"/>
              </a:rPr>
              <a:t>Introduction to Compilers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Segoe UI"/>
              </a:rPr>
              <a:t>Fundamental Role &amp; Multi-Stage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5778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73152" cy="3474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Segoe UI"/>
              </a:rPr>
              <a:t>What is a Compiler?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257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  <a:latin typeface="Segoe UI"/>
              </a:rPr>
              <a:t>•  A compiler translates high-level human-readable code into low-level machine-executable code.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  <a:latin typeface="Segoe UI"/>
              </a:rPr>
              <a:t>•  Operates as a multi-stage sequential pipeline where each phase transforms program representation.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  <a:latin typeface="Segoe UI"/>
              </a:rPr>
              <a:t>•  Ensures rigorous validation: lexical, structural, and semantic correctness before execution.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  <a:latin typeface="Segoe UI"/>
              </a:rPr>
              <a:t>•  Arithmetic expressions form the core computational engine of all production compilers (GCC, Clang).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  <a:latin typeface="Segoe UI"/>
              </a:rPr>
              <a:t>•  Our project implements this complete classical architecture in a self-contained, modular C++ system.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298448"/>
            <a:ext cx="5394960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1298448"/>
            <a:ext cx="73152" cy="339242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212140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1D4ED8"/>
                </a:solidFill>
                <a:latin typeface="Segoe UI"/>
              </a:rPr>
              <a:t>Three Logical Sections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468880"/>
            <a:ext cx="5074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 dirty="0">
                <a:solidFill>
                  <a:srgbClr val="334155"/>
                </a:solidFill>
                <a:latin typeface="Segoe UI"/>
              </a:rPr>
              <a:t>•  Front-End (Analysis): Lexical, Syntax, &amp; Semantic stages (Source Language specific).</a:t>
            </a:r>
          </a:p>
          <a:p>
            <a:pPr>
              <a:spcBef>
                <a:spcPts val="400"/>
              </a:spcBef>
            </a:pPr>
            <a:r>
              <a:rPr sz="1250" dirty="0">
                <a:solidFill>
                  <a:srgbClr val="334155"/>
                </a:solidFill>
                <a:latin typeface="Segoe UI"/>
              </a:rPr>
              <a:t>•  Middle-End (Optimization): Intermediate Representation (TAC) &amp; machine-independent optimizations.</a:t>
            </a:r>
          </a:p>
          <a:p>
            <a:pPr>
              <a:spcBef>
                <a:spcPts val="400"/>
              </a:spcBef>
            </a:pPr>
            <a:r>
              <a:rPr sz="1250" dirty="0">
                <a:solidFill>
                  <a:srgbClr val="334155"/>
                </a:solidFill>
                <a:latin typeface="Segoe UI"/>
              </a:rPr>
              <a:t>•  Back-End (Synthesis): Target code generation (maps IR to target machine instructions).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46320"/>
            <a:ext cx="11247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846320"/>
            <a:ext cx="73152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956048"/>
            <a:ext cx="10927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D97706"/>
                </a:solidFill>
                <a:latin typeface="Segoe UI"/>
              </a:rPr>
              <a:t>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03520"/>
            <a:ext cx="109270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 dirty="0">
                <a:solidFill>
                  <a:srgbClr val="334155"/>
                </a:solidFill>
                <a:latin typeface="Segoe UI"/>
              </a:rPr>
              <a:t>.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7CA1EC35-463F-81EC-E51A-5B379E0B3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03" y="5385584"/>
            <a:ext cx="5444200" cy="548688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52CAF51B-C6E7-4369-5A6B-EB7A896B2C62}"/>
              </a:ext>
            </a:extLst>
          </p:cNvPr>
          <p:cNvSpPr txBox="1"/>
          <p:nvPr/>
        </p:nvSpPr>
        <p:spPr>
          <a:xfrm>
            <a:off x="2609491" y="5449713"/>
            <a:ext cx="7203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Parser</a:t>
            </a:r>
            <a:endParaRPr lang="en-I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73152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0F172A"/>
                </a:solidFill>
                <a:latin typeface="Segoe UI"/>
              </a:rPr>
              <a:t>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Segoe UI"/>
              </a:rPr>
              <a:t>Language Features, Grammar Capabilities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5778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73152" cy="5120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Segoe UI"/>
              </a:rPr>
              <a:t>Compiler Capabilities &amp;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257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  <a:latin typeface="Segoe UI"/>
              </a:rPr>
              <a:t>•  Core Language: Written in clean modern C++17 (583 lines, zero third-party libraries).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  <a:latin typeface="Segoe UI"/>
              </a:rPr>
              <a:t>•  Supported Data Types: Both INTEGER and FLOAT with automatic type promotion.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  <a:latin typeface="Segoe UI"/>
              </a:rPr>
              <a:t>•  Comprehensive Operators: Addition (+), Subtraction (-), Multiplication (*), Division (/), Modulo (%), Power (**), and Unary Negation (-).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  <a:latin typeface="Segoe UI"/>
              </a:rPr>
              <a:t>•  Parentheses Support: Full nested expression precedence handling: (a + b) * c.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  <a:latin typeface="Segoe UI"/>
              </a:rPr>
              <a:t>•  Variable Assignment: Persistent variable assignment (e.g., x = 5;) with multi-statement programs.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  <a:latin typeface="Segoe UI"/>
              </a:rPr>
              <a:t>•  Diagnostic Engine: Comprehensive detection of lexical, syntactic, and semantic errors.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2651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280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Segoe UI"/>
              </a:rPr>
              <a:t>Demo Source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72768"/>
            <a:ext cx="5212080" cy="2176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dirty="0">
                <a:solidFill>
                  <a:srgbClr val="1E293B"/>
                </a:solidFill>
                <a:latin typeface="Consolas"/>
              </a:rPr>
              <a:t>// Sample Arithmetic Source Program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a = 5;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b = 3;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c = a + b * 2;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d = (a - b) ** 3;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e = c / 2 + d % 5;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result = e * 1.5 + 10;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77639"/>
            <a:ext cx="5486400" cy="2331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406907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Segoe UI"/>
              </a:rPr>
              <a:t>Computed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361687"/>
            <a:ext cx="5212080" cy="1856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dirty="0">
                <a:solidFill>
                  <a:srgbClr val="1E293B"/>
                </a:solidFill>
                <a:latin typeface="Consolas"/>
              </a:rPr>
              <a:t>// Evaluated Output Values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a = 5                  (INTEGER)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b = 3                  (INTEGER)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c = 11                 (INTEGER, 5 + 6)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d = 8                  (INTEGER, 2^3)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e = 8.5                (FLOAT, 5.5 + 3)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result = 22.75         (FLOAT, 8.5*1.5 + 10)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73152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Segoe UI"/>
              </a:rPr>
              <a:t>Phase 1 — Lexical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Segoe UI"/>
              </a:rPr>
              <a:t>Converting Raw Source Text into a Stream of Tokens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16975" y="228600"/>
            <a:ext cx="301752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16975" y="228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Phase 1  |  Lexer / Tokenizer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577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73152" cy="3291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9844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Segoe UI"/>
              </a:rPr>
              <a:t>Lexical Analysis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Role: Reads raw character stream and groups them into meaningful lexical units (TOKENS).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Token Structure: Each token encapsulates Token Type, Literal String Value, Line, and Column.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Whitespace &amp; Comments: Strips spaces, tabs, and newline characters while tracking line numbers.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Lookahead Capability: Peeks one character ahead (e.g., distinguishes * multiply from ** power).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Error Detection: Flags invalid characters (e.g., @, $, #) immediately as Lexical Errors.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17720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61772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72744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Segoe UI"/>
              </a:rPr>
              <a:t>Token Types Supported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5257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dirty="0">
                <a:solidFill>
                  <a:srgbClr val="334155"/>
                </a:solidFill>
                <a:latin typeface="Segoe UI"/>
              </a:rPr>
              <a:t>•  Recognized Token Categories in our Implementation: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334155"/>
                </a:solidFill>
                <a:latin typeface="Segoe UI"/>
              </a:rPr>
              <a:t>•  Literals     : INTEGER (e.g., 42), FLOAT (e.g., 3.14)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334155"/>
                </a:solidFill>
                <a:latin typeface="Segoe UI"/>
              </a:rPr>
              <a:t>•  Identifiers  : Variable names (a-z, A-Z, _, digits)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334155"/>
                </a:solidFill>
                <a:latin typeface="Segoe UI"/>
              </a:rPr>
              <a:t>•  Operators    : +, -, *, /, %, ** (power), = (assignment)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334155"/>
                </a:solidFill>
                <a:latin typeface="Segoe UI"/>
              </a:rPr>
              <a:t>•  Delimiters   : (, ), ; (semicolon), EOF (end-of-file)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5486400" cy="5120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280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Segoe UI"/>
              </a:rPr>
              <a:t>Generated Token 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572768"/>
            <a:ext cx="5212080" cy="4645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dirty="0">
                <a:solidFill>
                  <a:srgbClr val="1E293B"/>
                </a:solidFill>
                <a:latin typeface="Consolas"/>
              </a:rPr>
              <a:t>Input Statement:  c = a + b * 2;</a:t>
            </a:r>
          </a:p>
          <a:p>
            <a:endParaRPr sz="1050" dirty="0">
              <a:solidFill>
                <a:srgbClr val="1E293B"/>
              </a:solidFill>
              <a:latin typeface="Consolas"/>
            </a:endParaRP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 No | Token Type   | Value | Line | Col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 ---|--------------|-------|------|----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  1 | IDENTIFIER   | c     |    1 |   1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  2 | ASSIGN       | =     |    1 |   3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  3 | IDENTIFIER   | a     |    1 |   5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  4 | PLUS         | +     |    1 |   7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  5 | IDENTIFIER   | b     |    1 |   9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  6 | MULTIPLY     | *     |    1 |  11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  7 | INTEGER      | 2     |    1 |  13</a:t>
            </a:r>
          </a:p>
          <a:p>
            <a:r>
              <a:rPr sz="1050" dirty="0">
                <a:solidFill>
                  <a:srgbClr val="1E293B"/>
                </a:solidFill>
                <a:latin typeface="Consolas"/>
              </a:rPr>
              <a:t>  8 | SEMICOLON    | ;     |    1 | 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73152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Segoe UI"/>
              </a:rPr>
              <a:t>Phase 2 — Syntax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Segoe UI"/>
              </a:rPr>
              <a:t>Grammar Validation &amp; Abstract Syntax Tree (AST)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16975" y="228600"/>
            <a:ext cx="301752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16975" y="228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Phase 2  |  Parser &amp; AST Builder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5778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73152" cy="3383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9844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Segoe UI"/>
              </a:rPr>
              <a:t>Syntactic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5257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Role: Verifies that the token stream conforms to Context-Free Grammar (CFG) rules.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Technique: Recursive Descent Parsing — top-down parser with one procedure per grammar non-terminal.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Precedence Encoding: Natural hierarchy enforces correct arithmetic precedence: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  Primary / Parens  &gt;  Unary (-)  &gt;  Power (**)  &gt;  Mul/Div/Mod (*,/,%)  &gt;  Add/Sub (+,-)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AST Generation: Constructs an explicit Abstract Syntax Tree representing operator relationships.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Error Recovery: Semicolon-synchronization: recovers on syntax error to parse subsequent statements.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09160"/>
            <a:ext cx="5577840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800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Segoe UI"/>
              </a:rPr>
              <a:t>Grammar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093208"/>
            <a:ext cx="5303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Consolas"/>
              </a:rPr>
              <a:t>// Formal Grammar (EBNF):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program    → statement* EOF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statement  → assignment ';' | expr ';'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assignment → ID '=' expr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expr       → term (('+' | '-') term)*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term       → power (('*'|'/'|'%') power)*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power      → unary ('**' power)?  // right-assoc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unary      → '-' unary | primary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primary    → INT | FLOAT | ID | '(' expr ')'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486400" cy="5120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Segoe UI"/>
              </a:rPr>
              <a:t>Generated AST Hierarchy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72768"/>
            <a:ext cx="5212080" cy="4645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Consolas"/>
              </a:rPr>
              <a:t>AST for Statement:  c = a + b * 2;</a:t>
            </a:r>
          </a:p>
          <a:p>
            <a:endParaRPr sz="1050">
              <a:solidFill>
                <a:srgbClr val="1E293B"/>
              </a:solidFill>
              <a:latin typeface="Consolas"/>
            </a:endParaRP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└── =  &lt;ASSIGN&gt;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├── c  &lt;ID&gt;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└── +  &lt;BINOP&gt;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    ├── a  &lt;ID&gt;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    └── *  &lt;BINOP&gt;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        ├── b  &lt;ID&gt;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        └── 2  &lt;INT&gt;</a:t>
            </a:r>
          </a:p>
          <a:p>
            <a:endParaRPr sz="1050">
              <a:solidFill>
                <a:srgbClr val="1E293B"/>
              </a:solidFill>
              <a:latin typeface="Consolas"/>
            </a:endParaRP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Key Property: '*' sits deeper in tree than '+',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ensuring multiplication executes before addition.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73152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Segoe UI"/>
              </a:rPr>
              <a:t>Phase 3 — Semantic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Segoe UI"/>
              </a:rPr>
              <a:t>Symbol Table Construction &amp; Static Type Checking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16975" y="228600"/>
            <a:ext cx="301752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16975" y="228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Phase 3  |  Semantic Checker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57784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73152" cy="374903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9844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Segoe UI"/>
              </a:rPr>
              <a:t>Semantic Rules &amp;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525780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Role: Checks whether the grammatically valid program is logically and semantically meaningful.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Symbol Table Management: Tracks variable names, inferred types, declared lines, and initialization state.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Type Inference &amp; Promotion: Propagates INTEGER and FLOAT types across binary operations.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Type Rule: Any binary operation involving a FLOAT produces a FLOAT result.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Strict Validation Checks: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  • Undefined Variable Usage (Variable used without prior definition).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  • Division by Literal Zero (Compile-time detection of / 0 or % 0).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  • Invalid Modulo Operands (Ensures modulo % applies strictly to integers).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74920"/>
            <a:ext cx="5577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5074920"/>
            <a:ext cx="73152" cy="1234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18464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Segoe UI"/>
              </a:rPr>
              <a:t>Sample Diagnostic Errors Caught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525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Segoe UI"/>
              </a:rPr>
              <a:t>•  Variable 'y' undeclared → 'Semantic Error: Undefined variable y'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Segoe UI"/>
              </a:rPr>
              <a:t>•  Expression '10 / 0;'    → 'Semantic Error: Division by zero'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Segoe UI"/>
              </a:rPr>
              <a:t>•  Expression '5.5 % 2;'   → 'Semantic Error: Modulo requires integers'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5486400" cy="5120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280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Segoe UI"/>
              </a:rPr>
              <a:t>Symbol Table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572768"/>
            <a:ext cx="5212080" cy="4645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Consolas"/>
              </a:rPr>
              <a:t>Symbol Table Output:</a:t>
            </a:r>
          </a:p>
          <a:p>
            <a:endParaRPr sz="1050">
              <a:solidFill>
                <a:srgbClr val="1E293B"/>
              </a:solidFill>
              <a:latin typeface="Consolas"/>
            </a:endParaRP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Variable | Type    | Value | Line | Init?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---------|---------|-------|------|------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a        | INTEGER | 5     |    1 | YES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b        | INTEGER | 3     |    2 | YES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c        | INTEGER | 11    |    3 | YES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d        | INTEGER | 8     |    4 | YES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e        | FLOAT   | 8.5   |    5 | YES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result   | FLOAT   | 22.75 |    6 | YES</a:t>
            </a:r>
          </a:p>
          <a:p>
            <a:endParaRPr sz="1050">
              <a:solidFill>
                <a:srgbClr val="1E293B"/>
              </a:solidFill>
              <a:latin typeface="Consolas"/>
            </a:endParaRP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Note: 'e' is FLOAT because of 11/2; 'result' is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FLOAT due to multiplication with literal 1.5.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73152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Segoe UI"/>
              </a:rPr>
              <a:t>Phase 4 — Intermediate Code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Segoe UI"/>
              </a:rPr>
              <a:t>Linearizing Tree Structure into Three-Address Code (TAC)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16975" y="228600"/>
            <a:ext cx="301752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16975" y="228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Phase 4  |  IR / TAC Generator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5778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73152" cy="3931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9844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Segoe UI"/>
              </a:rPr>
              <a:t>Intermediate Representation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5257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Role: Converts hierarchical AST into a flat, machine-independent Intermediate Representation (IR).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Three-Address Code (TAC): Every instruction contains at most one operator and at most three addresses.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Standard TAC Format:  result = operand1  operator  operand2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Temporary Allocation: Generates distinct virtual registers (t1, t2, t3...) for intermediate computations.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Benefits of TAC Representation: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  • Hardware Independence: Same TAC can target x86, ARM, RISC-V, or WebAssembly.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  • Clean Optimization: Far simpler to analyze and transform linear TAC than complex trees.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257800"/>
            <a:ext cx="5577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5257800"/>
            <a:ext cx="73152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36752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Segoe UI"/>
              </a:rPr>
              <a:t>Generation 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Segoe UI"/>
              </a:rPr>
              <a:t>•  Traversal: Post-order recursive traversal over the AST.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Segoe UI"/>
              </a:rPr>
              <a:t>•  Generates linear TAC sequence respecting operator order.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5486400" cy="5120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280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Segoe UI"/>
              </a:rPr>
              <a:t>Three-Address Code (TAC)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572768"/>
            <a:ext cx="5212080" cy="4645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Consolas"/>
              </a:rPr>
              <a:t>TAC Generated from Demo Source:</a:t>
            </a:r>
          </a:p>
          <a:p>
            <a:endParaRPr sz="1000">
              <a:solidFill>
                <a:srgbClr val="1E293B"/>
              </a:solidFill>
              <a:latin typeface="Consolas"/>
            </a:endParaRP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Line | TAC Instruction     | Operation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-----|---------------------|----------------------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  1 | a = 5               | direct assign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  2 | b = 3               | direct assign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  3 | t1 = b * 2          | multiply b by 2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  4 | t2 = a + t1         | add a and t1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  5 | c = t2              | assign to c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  6 | t3 = a - b          | subtract b from a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  7 | t4 = t3 ** 3        | power operation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  8 | d = t4              | assign to d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  9 | t5 = c / 2          | divide c by 2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 10 | t6 = d % 5          | modulo d by 5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 11 | t7 = t5 + t6        | sum components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 12 | e = t7              | assign to 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73152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Segoe UI"/>
              </a:rPr>
              <a:t>Phase 5 — Code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Segoe UI"/>
              </a:rPr>
              <a:t>Constant Folding &amp; Constant Propagation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16975" y="228600"/>
            <a:ext cx="301752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16975" y="228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Phase 5  |  Optimizer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5778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73152" cy="3931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9844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Segoe UI"/>
              </a:rPr>
              <a:t>Optimization Strategies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5257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Role: Transforms intermediate code into a faster, more compact form without altering program semantics.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Technique 1 — Constant Folding: Evaluates constant expressions at compile time instead of at runtime.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  Example:  t1 = 3 * 2  →  folded directly into  t1 = 6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Technique 2 — Constant Propagation: Propagates known constant values forward into subsequent expressions.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  Example: If 'a = 5' and 'b = 3', then 'a - b' is replaced by '5 - 3' and folded into '2'.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Efficiency Gain: Substantially reduces total instruction count and runtime CPU clock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257800"/>
            <a:ext cx="5577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5257800"/>
            <a:ext cx="73152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36752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Segoe UI"/>
              </a:rPr>
              <a:t>Optimization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Segoe UI"/>
              </a:rPr>
              <a:t>•  Raw TAC Instructions       : 15 instructions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Segoe UI"/>
              </a:rPr>
              <a:t>•  Optimized TAC Instructions : 6 instructions (Only essential assignments)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Segoe UI"/>
              </a:rPr>
              <a:t>•  Instruction Reduction      : 60% reduction in executed operations!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5486400" cy="5120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280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Segoe UI"/>
              </a:rPr>
              <a:t>Before vs After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572768"/>
            <a:ext cx="5212080" cy="4645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Consolas"/>
              </a:rPr>
              <a:t>Before Optimization (Unoptimized TAC):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t1 = b * 2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t2 = a + t1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c  = t2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t3 = a - b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t4 = t3 ** 3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d  = t4</a:t>
            </a:r>
          </a:p>
          <a:p>
            <a:endParaRPr sz="1000">
              <a:solidFill>
                <a:srgbClr val="1E293B"/>
              </a:solidFill>
              <a:latin typeface="Consolas"/>
            </a:endParaRP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After Optimization (Folded &amp; Propagated):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a = 5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b = 3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c = 11          // 5 + 3*2 computed at compile-time!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d = 8           // (5 - 3)^3 computed at compile-time!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e = 8.5         // 11/2 + 8%5 folded at compile-time!</a:t>
            </a:r>
          </a:p>
          <a:p>
            <a:r>
              <a:rPr sz="1000">
                <a:solidFill>
                  <a:srgbClr val="1E293B"/>
                </a:solidFill>
                <a:latin typeface="Consolas"/>
              </a:rPr>
              <a:t>  result = 22.75  // 8.5*1.5 + 10 folded directly!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73152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Segoe UI"/>
              </a:rPr>
              <a:t>Phase 6 — Target Code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Segoe UI"/>
              </a:rPr>
              <a:t>Translating Optimized TAC into x86 Assembly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16975" y="228600"/>
            <a:ext cx="301752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16975" y="228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Phase 6  |  Code Generator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5778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73152" cy="3931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9844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Segoe UI"/>
              </a:rPr>
              <a:t>Code Generation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5257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Role: The final synthesis phase — maps machine-independent TAC into native target assembly instructions.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Target Architecture: x86 32-bit (NASM-style assembly syntax).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Register Allocation Strategy: Uses primary accumulator EAX, register EBX, and remainder register EDX.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Instruction Mapping: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  • Addition (+)       →  MOV EAX, op1  |  ADD EAX, op2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  • Subtraction (-)    →  MOV EAX, op1  |  SUB EAX, op2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  • Multiplication (*) →  MOV EAX, op1  |  IMUL EAX, op2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  • Division &amp; Modulo  →  MOV EAX, op1  |  CDQ  |  IDIV op2  (EAX=quotient, EDX=rem)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257800"/>
            <a:ext cx="5577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5257800"/>
            <a:ext cx="73152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36752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Segoe UI"/>
              </a:rPr>
              <a:t>Assembly Program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Segoe UI"/>
              </a:rPr>
              <a:t>•  Standard program header with '.bss' data section and '.text' executable code section.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Segoe UI"/>
              </a:rPr>
              <a:t>•  Concludes with standard Linux exit interrupt (INT 0x80 / sys_exit).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5486400" cy="5120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280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Segoe UI"/>
              </a:rPr>
              <a:t>Generated x86 Assembly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572768"/>
            <a:ext cx="5212080" cy="4645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Consolas"/>
              </a:rPr>
              <a:t>; x86 Assembly Output (NASM-style)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section .text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global _start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_start:</a:t>
            </a:r>
          </a:p>
          <a:p>
            <a:endParaRPr sz="1050">
              <a:solidFill>
                <a:srgbClr val="1E293B"/>
              </a:solidFill>
              <a:latin typeface="Consolas"/>
            </a:endParaRP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; a = 5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MOV EAX, 5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MOV [a], EAX</a:t>
            </a:r>
          </a:p>
          <a:p>
            <a:endParaRPr sz="1050">
              <a:solidFill>
                <a:srgbClr val="1E293B"/>
              </a:solidFill>
              <a:latin typeface="Consolas"/>
            </a:endParaRP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; c = 11 (post-optimization)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MOV EAX, 11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MOV [c], EAX</a:t>
            </a:r>
          </a:p>
          <a:p>
            <a:endParaRPr sz="1050">
              <a:solidFill>
                <a:srgbClr val="1E293B"/>
              </a:solidFill>
              <a:latin typeface="Consolas"/>
            </a:endParaRP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; exit program (sys_exit)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MOV EAX, 1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XOR EBX, EBX</a:t>
            </a:r>
          </a:p>
          <a:p>
            <a:r>
              <a:rPr sz="1050">
                <a:solidFill>
                  <a:srgbClr val="1E293B"/>
                </a:solidFill>
                <a:latin typeface="Consolas"/>
              </a:rPr>
              <a:t>    INT 0x80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73152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0F172A"/>
                </a:solidFill>
                <a:latin typeface="Segoe UI"/>
              </a:rPr>
              <a:t>Compilation Pipeline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Segoe UI"/>
              </a:rPr>
              <a:t>Tracing One Expression:  result = e * 1.5 + 10;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78308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Phase 1 : Lexer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1783080" cy="4663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1508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1E293B"/>
                </a:solidFill>
                <a:latin typeface="Consolas"/>
              </a:rPr>
              <a:t>[ID, result]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[ASSIGN, =]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[ID, e]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[MUL, *]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[FLOAT, 1.5]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[PLUS, +]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[INT, 10]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[SEMI, ;]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19" y="1188720"/>
            <a:ext cx="178308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1719" y="1188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Phase 2 : Parser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1664208"/>
            <a:ext cx="1783080" cy="4663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79" y="1755648"/>
            <a:ext cx="1508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1E293B"/>
                </a:solidFill>
                <a:latin typeface="Consolas"/>
              </a:rPr>
              <a:t>└── = (ASSIGN)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    ├── result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    └── + (BINOP)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        ├── * (BINOP)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        │   ├── e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        │   └── 1.5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        └──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38" y="1188720"/>
            <a:ext cx="178308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38" y="1188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Segoe UI"/>
              </a:rPr>
              <a:t>Phase 3 : Semantic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38" y="1664208"/>
            <a:ext cx="1783080" cy="4663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398" y="1755648"/>
            <a:ext cx="1508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1E293B"/>
                </a:solidFill>
                <a:latin typeface="Consolas"/>
              </a:rPr>
              <a:t>e : FLOAT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1.5 : FLOAT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e*1.5 → FLOAT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10 : INTEGER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+ → FLOAT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result : FLOAT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All types 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7" y="1188720"/>
            <a:ext cx="17830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57" y="1188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Phase 4 : TAC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57" y="1664208"/>
            <a:ext cx="1783080" cy="4663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17" y="1755648"/>
            <a:ext cx="1508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1E293B"/>
                </a:solidFill>
                <a:latin typeface="Consolas"/>
              </a:rPr>
              <a:t>t1 = e * 1.5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t2 = t1 + 10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result = t2</a:t>
            </a:r>
          </a:p>
          <a:p>
            <a:endParaRPr sz="950">
              <a:solidFill>
                <a:srgbClr val="1E293B"/>
              </a:solidFill>
              <a:latin typeface="Consolas"/>
            </a:endParaRPr>
          </a:p>
          <a:p>
            <a:r>
              <a:rPr sz="950">
                <a:solidFill>
                  <a:srgbClr val="1E293B"/>
                </a:solidFill>
                <a:latin typeface="Consolas"/>
              </a:rPr>
              <a:t>(3 Address Code)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(Unoptimized)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6" y="1188720"/>
            <a:ext cx="17830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76" y="1188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Phase 5 : Optimize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6" y="1664208"/>
            <a:ext cx="1783080" cy="4663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2436" y="1755648"/>
            <a:ext cx="1508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1E293B"/>
                </a:solidFill>
                <a:latin typeface="Consolas"/>
              </a:rPr>
              <a:t>e = 8.5 (known)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t1 = 8.5*1.5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   = 12.75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t2 = 12.75+10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   = 22.75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result = 22.75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795" y="1188720"/>
            <a:ext cx="17830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29795" y="1188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Phase 6 : Assembly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29795" y="1664208"/>
            <a:ext cx="1783080" cy="4663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66955" y="1755648"/>
            <a:ext cx="1508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1E293B"/>
                </a:solidFill>
                <a:latin typeface="Consolas"/>
              </a:rPr>
              <a:t>; result = 22.75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MOV EAX, 22.75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MOV [result], EAX</a:t>
            </a:r>
          </a:p>
          <a:p>
            <a:endParaRPr sz="950">
              <a:solidFill>
                <a:srgbClr val="1E293B"/>
              </a:solidFill>
              <a:latin typeface="Consolas"/>
            </a:endParaRPr>
          </a:p>
          <a:p>
            <a:r>
              <a:rPr sz="950">
                <a:solidFill>
                  <a:srgbClr val="1E293B"/>
                </a:solidFill>
                <a:latin typeface="Consolas"/>
              </a:rPr>
              <a:t>; Exit</a:t>
            </a:r>
          </a:p>
          <a:p>
            <a:r>
              <a:rPr sz="950">
                <a:solidFill>
                  <a:srgbClr val="1E293B"/>
                </a:solidFill>
                <a:latin typeface="Consolas"/>
              </a:rPr>
              <a:t>INT 0x80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73152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0F172A"/>
                </a:solidFill>
                <a:latin typeface="Segoe UI"/>
              </a:rPr>
              <a:t>Robust Error Handling &amp;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Segoe UI"/>
              </a:rPr>
              <a:t>Multi-Level Compile-Time Error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73152" cy="1554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10927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Segoe UI"/>
              </a:rPr>
              <a:t>Phase 1 : Lexical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27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Triggered by illegal characters (e.g., '@', '#', '$') not part of the language.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Reports precise Line and Column numbers of the unrecognized character.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Example: 'Lexical Error [Line 1]: Unknown character @'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80360"/>
            <a:ext cx="11247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73152" cy="1554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10927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Segoe UI"/>
              </a:rPr>
              <a:t>Phase 2 : Syntax Errors &amp;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10927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Triggered by mismatched parentheses, missing semicolons, or invalid operator sequences.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Parser implements panic-mode synchronization: advances token stream to next semicolon ';'.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Example: 'Syntax Error [Line 2]: Expected SEMICOLON got IDENTIFIER'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11247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73152" cy="1554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681728"/>
            <a:ext cx="10927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Segoe UI"/>
              </a:rPr>
              <a:t>Phase 3 : Semantic Errors &amp; Warnings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927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Undefined Variable Error: Prevents computing on unassigned variables.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Division by Zero Error: Detects literal division or modulo by 0.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Modulo Type Error: Flags attempt to execute float modulo (e.g., 5.2 % 2).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334155"/>
                </a:solidFill>
                <a:latin typeface="Segoe UI"/>
              </a:rPr>
              <a:t>•  Uninitialized Variable Warning: Alerts user when variable is used before value assignment.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73152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Segoe UI"/>
              </a:rPr>
              <a:t>Key Engineering Insights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Segoe UI"/>
              </a:rPr>
              <a:t>Core Achievements of the Arithmetic Compiler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875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73152" cy="1600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441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Segoe UI"/>
              </a:rPr>
              <a:t>Full 6-Phase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Segoe UI"/>
              </a:rPr>
              <a:t>Demonstrated complete classical compiler theory (Lexer → Parser → Semantic → TAC → Optimizer → x86 Assembly) in clean C++.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73152" cy="1600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3441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Segoe UI"/>
              </a:rPr>
              <a:t>Hand-Crafted 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0992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Segoe UI"/>
              </a:rPr>
              <a:t>Zero generator dependencies (No Lex/Yacc/ANTLR) — implemented recursive descent with operator precedence encoded naturally.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73152" cy="160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081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Segoe UI"/>
              </a:rPr>
              <a:t>Dynamic Type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472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Segoe UI"/>
              </a:rPr>
              <a:t>Automated type inference between INTEGER and FLOAT with proper semantic validation and error diagnostics.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97180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971800"/>
            <a:ext cx="73152" cy="160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081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Segoe UI"/>
              </a:rPr>
              <a:t>Measurable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472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Segoe UI"/>
              </a:rPr>
              <a:t>Constant folding and propagation cut runtime instruction count by up to 60%, evaluated safely at compile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0916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709160"/>
            <a:ext cx="73152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8188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Segoe UI"/>
              </a:rPr>
              <a:t>Universal AST Representation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8464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Segoe UI"/>
              </a:rPr>
              <a:t>AST acts as the single source of truth for semantic checking, TAC generation, and the runtime evaluator.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70916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4709160"/>
            <a:ext cx="73152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8188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Segoe UI"/>
              </a:rPr>
              <a:t>Target Code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18464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334155"/>
                </a:solidFill>
                <a:latin typeface="Segoe UI"/>
              </a:rPr>
              <a:t>Emits clean x86 assembly instructions with proper register management (EAX, EBX, EDX) and system call exits.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822960"/>
            <a:ext cx="10362895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822960"/>
            <a:ext cx="103628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99971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D4ED8"/>
                </a:solidFill>
                <a:latin typeface="Segoe UI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997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64748B"/>
                </a:solidFill>
                <a:latin typeface="Segoe UI"/>
              </a:rPr>
              <a:t>Arithmetic Compiler — Comprehensive 6-Phase Implementation in 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331720"/>
            <a:ext cx="57908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9448495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0" y="2514600"/>
            <a:ext cx="73152" cy="2468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2624328"/>
            <a:ext cx="9128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Complete Phase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71800"/>
            <a:ext cx="912845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Phase 1 (Lexical Analysis)     : Token stream generation &amp; character validation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Phase 2 (Syntax Analysis)      : Recursive descent grammar parsing &amp; AST creation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Phase 3 (Semantic Analysis)    : Symbol table management &amp; type checking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Phase 4 (Intermediate Code)    : Platform-independent Three-Address Code (TAC)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Phase 5 (Code Optimization)    : Compile-time constant folding &amp; propagation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Segoe UI"/>
              </a:rPr>
              <a:t>•  Phase 6 (Target Code Gen)      : Native x86 NASM-style assembly translation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6636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97706"/>
                </a:solidFill>
                <a:latin typeface="Segoe U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2777</Words>
  <Application>Microsoft Office PowerPoint</Application>
  <PresentationFormat>Widescreen</PresentationFormat>
  <Paragraphs>337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245109108 Satyapal Gaikwad</cp:lastModifiedBy>
  <cp:revision>2</cp:revision>
  <dcterms:created xsi:type="dcterms:W3CDTF">2013-01-27T09:14:16Z</dcterms:created>
  <dcterms:modified xsi:type="dcterms:W3CDTF">2026-08-21T02:08:16Z</dcterms:modified>
  <cp:category/>
</cp:coreProperties>
</file>